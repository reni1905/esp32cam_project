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eko Semi-Bold" charset="1" panose="02000000000000000000"/>
      <p:regular r:id="rId23"/>
    </p:embeddedFont>
    <p:embeddedFont>
      <p:font typeface="Teko Bold" charset="1" panose="02000000000000000000"/>
      <p:regular r:id="rId24"/>
    </p:embeddedFont>
    <p:embeddedFont>
      <p:font typeface="Poppins Semi-Bold" charset="1" panose="00000700000000000000"/>
      <p:regular r:id="rId25"/>
    </p:embeddedFont>
    <p:embeddedFont>
      <p:font typeface="Montserrat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3.pn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6.png" Type="http://schemas.openxmlformats.org/officeDocument/2006/relationships/image"/><Relationship Id="rId6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7.png" Type="http://schemas.openxmlformats.org/officeDocument/2006/relationships/image"/><Relationship Id="rId6" Target="../embeddings/oleObject3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8.png" Type="http://schemas.openxmlformats.org/officeDocument/2006/relationships/image"/><Relationship Id="rId6" Target="../embeddings/oleObject4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9.png" Type="http://schemas.openxmlformats.org/officeDocument/2006/relationships/image"/><Relationship Id="rId6" Target="../embeddings/oleObject5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20.png" Type="http://schemas.openxmlformats.org/officeDocument/2006/relationships/image"/><Relationship Id="rId6" Target="../embeddings/oleObject6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5811" y="8423714"/>
            <a:ext cx="9217827" cy="869992"/>
            <a:chOff x="0" y="0"/>
            <a:chExt cx="2427740" cy="2291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7740" cy="229134"/>
            </a:xfrm>
            <a:custGeom>
              <a:avLst/>
              <a:gdLst/>
              <a:ahLst/>
              <a:cxnLst/>
              <a:rect r="r" b="b" t="t" l="l"/>
              <a:pathLst>
                <a:path h="229134" w="2427740">
                  <a:moveTo>
                    <a:pt x="83989" y="0"/>
                  </a:moveTo>
                  <a:lnTo>
                    <a:pt x="2343752" y="0"/>
                  </a:lnTo>
                  <a:cubicBezTo>
                    <a:pt x="2366027" y="0"/>
                    <a:pt x="2387390" y="8849"/>
                    <a:pt x="2403141" y="24600"/>
                  </a:cubicBezTo>
                  <a:cubicBezTo>
                    <a:pt x="2418892" y="40351"/>
                    <a:pt x="2427740" y="61713"/>
                    <a:pt x="2427740" y="83989"/>
                  </a:cubicBezTo>
                  <a:lnTo>
                    <a:pt x="2427740" y="145145"/>
                  </a:lnTo>
                  <a:cubicBezTo>
                    <a:pt x="2427740" y="167420"/>
                    <a:pt x="2418892" y="188783"/>
                    <a:pt x="2403141" y="204534"/>
                  </a:cubicBezTo>
                  <a:cubicBezTo>
                    <a:pt x="2387390" y="220285"/>
                    <a:pt x="2366027" y="229134"/>
                    <a:pt x="2343752" y="229134"/>
                  </a:cubicBezTo>
                  <a:lnTo>
                    <a:pt x="83989" y="229134"/>
                  </a:lnTo>
                  <a:cubicBezTo>
                    <a:pt x="61713" y="229134"/>
                    <a:pt x="40351" y="220285"/>
                    <a:pt x="24600" y="204534"/>
                  </a:cubicBezTo>
                  <a:cubicBezTo>
                    <a:pt x="8849" y="188783"/>
                    <a:pt x="0" y="167420"/>
                    <a:pt x="0" y="145145"/>
                  </a:cubicBezTo>
                  <a:lnTo>
                    <a:pt x="0" y="83989"/>
                  </a:lnTo>
                  <a:cubicBezTo>
                    <a:pt x="0" y="61713"/>
                    <a:pt x="8849" y="40351"/>
                    <a:pt x="24600" y="24600"/>
                  </a:cubicBezTo>
                  <a:cubicBezTo>
                    <a:pt x="40351" y="8849"/>
                    <a:pt x="61713" y="0"/>
                    <a:pt x="839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7740" cy="267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717397" y="8966732"/>
            <a:ext cx="532209" cy="53220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1A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749847" y="8966732"/>
            <a:ext cx="467310" cy="467310"/>
          </a:xfrm>
          <a:custGeom>
            <a:avLst/>
            <a:gdLst/>
            <a:ahLst/>
            <a:cxnLst/>
            <a:rect r="r" b="b" t="t" l="l"/>
            <a:pathLst>
              <a:path h="467310" w="467310">
                <a:moveTo>
                  <a:pt x="0" y="0"/>
                </a:moveTo>
                <a:lnTo>
                  <a:pt x="467310" y="0"/>
                </a:lnTo>
                <a:lnTo>
                  <a:pt x="467310" y="467310"/>
                </a:lnTo>
                <a:lnTo>
                  <a:pt x="0" y="46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5911">
            <a:off x="12353796" y="4377649"/>
            <a:ext cx="4386202" cy="4320409"/>
          </a:xfrm>
          <a:custGeom>
            <a:avLst/>
            <a:gdLst/>
            <a:ahLst/>
            <a:cxnLst/>
            <a:rect r="r" b="b" t="t" l="l"/>
            <a:pathLst>
              <a:path h="4320409" w="4386202">
                <a:moveTo>
                  <a:pt x="0" y="0"/>
                </a:moveTo>
                <a:lnTo>
                  <a:pt x="4386202" y="0"/>
                </a:lnTo>
                <a:lnTo>
                  <a:pt x="4386202" y="4320409"/>
                </a:lnTo>
                <a:lnTo>
                  <a:pt x="0" y="4320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55811" y="3041332"/>
            <a:ext cx="11053310" cy="406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0"/>
              </a:lnSpc>
            </a:pPr>
            <a:r>
              <a:rPr lang="en-US" sz="7590" b="tru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SISTEM DETEKSI PRODUK TERAFILIASI ISRAEL BERBASIS BARCODE DENGAN ESP32-CAM</a:t>
            </a:r>
          </a:p>
          <a:p>
            <a:pPr algn="l">
              <a:lnSpc>
                <a:spcPts val="797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87503" y="6359023"/>
            <a:ext cx="7039095" cy="201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7"/>
              </a:lnSpc>
            </a:pPr>
            <a:r>
              <a:rPr lang="en-US" sz="3196" b="tru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Nama : Reni Susanti</a:t>
            </a:r>
          </a:p>
          <a:p>
            <a:pPr algn="just">
              <a:lnSpc>
                <a:spcPts val="4027"/>
              </a:lnSpc>
            </a:pPr>
            <a:r>
              <a:rPr lang="en-US" sz="3196" b="tru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NIM : 210511079</a:t>
            </a:r>
          </a:p>
          <a:p>
            <a:pPr algn="just">
              <a:lnSpc>
                <a:spcPts val="4027"/>
              </a:lnSpc>
            </a:pPr>
            <a:r>
              <a:rPr lang="en-US" sz="3196" b="tru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Program Studi : Teknik Informatika</a:t>
            </a:r>
          </a:p>
          <a:p>
            <a:pPr algn="just">
              <a:lnSpc>
                <a:spcPts val="4027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673637" y="5971637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2"/>
                </a:lnTo>
                <a:lnTo>
                  <a:pt x="0" y="812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66226" y="2927032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8" y="0"/>
                </a:lnTo>
                <a:lnTo>
                  <a:pt x="586148" y="586147"/>
                </a:lnTo>
                <a:lnTo>
                  <a:pt x="0" y="58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7010" y="8641066"/>
            <a:ext cx="9828074" cy="100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7"/>
              </a:lnSpc>
            </a:pPr>
            <a:r>
              <a:rPr lang="en-US" sz="3196" b="true">
                <a:solidFill>
                  <a:srgbClr val="511A40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Pembimbing : Agust Isa Martinus, M.T. &amp; Sabar Santoso, M.T.</a:t>
            </a:r>
          </a:p>
          <a:p>
            <a:pPr algn="just">
              <a:lnSpc>
                <a:spcPts val="402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57127" y="5622956"/>
            <a:ext cx="6539208" cy="2530861"/>
            <a:chOff x="0" y="0"/>
            <a:chExt cx="909010" cy="351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010" cy="351813"/>
            </a:xfrm>
            <a:custGeom>
              <a:avLst/>
              <a:gdLst/>
              <a:ahLst/>
              <a:cxnLst/>
              <a:rect r="r" b="b" t="t" l="l"/>
              <a:pathLst>
                <a:path h="351813" w="909010">
                  <a:moveTo>
                    <a:pt x="46173" y="0"/>
                  </a:moveTo>
                  <a:lnTo>
                    <a:pt x="862837" y="0"/>
                  </a:lnTo>
                  <a:cubicBezTo>
                    <a:pt x="888338" y="0"/>
                    <a:pt x="909010" y="20672"/>
                    <a:pt x="909010" y="46173"/>
                  </a:cubicBezTo>
                  <a:lnTo>
                    <a:pt x="909010" y="305640"/>
                  </a:lnTo>
                  <a:cubicBezTo>
                    <a:pt x="909010" y="331141"/>
                    <a:pt x="888338" y="351813"/>
                    <a:pt x="862837" y="351813"/>
                  </a:cubicBezTo>
                  <a:lnTo>
                    <a:pt x="46173" y="351813"/>
                  </a:lnTo>
                  <a:cubicBezTo>
                    <a:pt x="33927" y="351813"/>
                    <a:pt x="22183" y="346948"/>
                    <a:pt x="13524" y="338289"/>
                  </a:cubicBezTo>
                  <a:cubicBezTo>
                    <a:pt x="4865" y="329630"/>
                    <a:pt x="0" y="317886"/>
                    <a:pt x="0" y="305640"/>
                  </a:cubicBezTo>
                  <a:lnTo>
                    <a:pt x="0" y="46173"/>
                  </a:lnTo>
                  <a:cubicBezTo>
                    <a:pt x="0" y="20672"/>
                    <a:pt x="20672" y="0"/>
                    <a:pt x="4617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715" r="0" b="-22715"/>
              </a:stretch>
            </a:blipFill>
            <a:ln w="762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57127" y="2696982"/>
            <a:ext cx="6539208" cy="2668799"/>
            <a:chOff x="0" y="0"/>
            <a:chExt cx="909010" cy="3709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9010" cy="370988"/>
            </a:xfrm>
            <a:custGeom>
              <a:avLst/>
              <a:gdLst/>
              <a:ahLst/>
              <a:cxnLst/>
              <a:rect r="r" b="b" t="t" l="l"/>
              <a:pathLst>
                <a:path h="370988" w="909010">
                  <a:moveTo>
                    <a:pt x="46173" y="0"/>
                  </a:moveTo>
                  <a:lnTo>
                    <a:pt x="862837" y="0"/>
                  </a:lnTo>
                  <a:cubicBezTo>
                    <a:pt x="888338" y="0"/>
                    <a:pt x="909010" y="20672"/>
                    <a:pt x="909010" y="46173"/>
                  </a:cubicBezTo>
                  <a:lnTo>
                    <a:pt x="909010" y="324815"/>
                  </a:lnTo>
                  <a:cubicBezTo>
                    <a:pt x="909010" y="350315"/>
                    <a:pt x="888338" y="370988"/>
                    <a:pt x="862837" y="370988"/>
                  </a:cubicBezTo>
                  <a:lnTo>
                    <a:pt x="46173" y="370988"/>
                  </a:lnTo>
                  <a:cubicBezTo>
                    <a:pt x="20672" y="370988"/>
                    <a:pt x="0" y="350315"/>
                    <a:pt x="0" y="324815"/>
                  </a:cubicBezTo>
                  <a:lnTo>
                    <a:pt x="0" y="46173"/>
                  </a:lnTo>
                  <a:cubicBezTo>
                    <a:pt x="0" y="20672"/>
                    <a:pt x="20672" y="0"/>
                    <a:pt x="4617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8956" r="0" b="-18956"/>
              </a:stretch>
            </a:blipFill>
            <a:ln w="762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60799" y="1279635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2"/>
                </a:lnTo>
                <a:lnTo>
                  <a:pt x="0" y="812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61732" y="4046208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8" y="0"/>
                </a:lnTo>
                <a:lnTo>
                  <a:pt x="586148" y="586148"/>
                </a:lnTo>
                <a:lnTo>
                  <a:pt x="0" y="586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0" y="1898332"/>
            <a:ext cx="6482829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LAT</a:t>
            </a:r>
            <a:r>
              <a:rPr lang="en-US" b="true" sz="5499" strike="noStrike" u="non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AR BELAKANG</a:t>
            </a:r>
          </a:p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2706507"/>
            <a:ext cx="6180557" cy="294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592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Konflik Israel-Palestina (gerakan boikot produk Israel)</a:t>
            </a:r>
          </a:p>
          <a:p>
            <a:pPr algn="l" marL="518160" indent="-259080" lvl="1">
              <a:lnSpc>
                <a:spcPts val="2592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Masyarakat kesulitan mengidentifikasi produk boikot</a:t>
            </a:r>
          </a:p>
          <a:p>
            <a:pPr algn="l" marL="518160" indent="-259080" lvl="1">
              <a:lnSpc>
                <a:spcPts val="2592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Perlunya alat bantu deteksi otomatis berbasis t</a:t>
            </a:r>
            <a:r>
              <a:rPr lang="en-US" b="true" sz="2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eknologi</a:t>
            </a:r>
          </a:p>
          <a:p>
            <a:pPr algn="l" marL="518160" indent="-259080" lvl="1">
              <a:lnSpc>
                <a:spcPts val="2592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ESP32-CAM + barcode adalah solusi IoT yang terjangkau</a:t>
            </a:r>
          </a:p>
          <a:p>
            <a:pPr algn="l">
              <a:lnSpc>
                <a:spcPts val="259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6732988"/>
            <a:ext cx="6180557" cy="229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592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Bagaimana merancang sis</a:t>
            </a:r>
            <a:r>
              <a:rPr lang="en-US" b="true" sz="2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tem deteksi produk boikot otomatis mengguna</a:t>
            </a:r>
            <a:r>
              <a:rPr lang="en-US" b="true" sz="2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kan ESP32-CAM?</a:t>
            </a:r>
          </a:p>
          <a:p>
            <a:pPr algn="l" marL="518160" indent="-259080" lvl="1">
              <a:lnSpc>
                <a:spcPts val="2592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Bagaimana mengintegrasikan hasil pemindaian barcode dengan database MySQL?</a:t>
            </a:r>
          </a:p>
          <a:p>
            <a:pPr algn="l">
              <a:lnSpc>
                <a:spcPts val="259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5988440"/>
            <a:ext cx="6482829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 RUMUSAN</a:t>
            </a:r>
            <a:r>
              <a:rPr lang="en-US" b="true" sz="5499" strike="noStrike" u="non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 MASALAH</a:t>
            </a:r>
          </a:p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828" y="5992288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2"/>
                </a:lnTo>
                <a:lnTo>
                  <a:pt x="0" y="812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970663" y="2639213"/>
            <a:ext cx="4351362" cy="1351414"/>
          </a:xfrm>
          <a:custGeom>
            <a:avLst/>
            <a:gdLst/>
            <a:ahLst/>
            <a:cxnLst/>
            <a:rect r="r" b="b" t="t" l="l"/>
            <a:pathLst>
              <a:path h="1351414" w="4351362">
                <a:moveTo>
                  <a:pt x="0" y="0"/>
                </a:moveTo>
                <a:lnTo>
                  <a:pt x="4351362" y="0"/>
                </a:lnTo>
                <a:lnTo>
                  <a:pt x="4351362" y="1351414"/>
                </a:lnTo>
                <a:lnTo>
                  <a:pt x="0" y="1351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6206" y="2933108"/>
            <a:ext cx="7383916" cy="74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BATASAN MASALAH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6206" y="3637958"/>
            <a:ext cx="6304729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Hanya untuk barcode EAN-13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lokal (MySQL) berisi produk Unilever terafiliasi Israel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Tidak termasuk deteksi logo/merek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92203" y="4248859"/>
            <a:ext cx="2072357" cy="1334706"/>
            <a:chOff x="0" y="0"/>
            <a:chExt cx="545806" cy="3515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5806" cy="351527"/>
            </a:xfrm>
            <a:custGeom>
              <a:avLst/>
              <a:gdLst/>
              <a:ahLst/>
              <a:cxnLst/>
              <a:rect r="r" b="b" t="t" l="l"/>
              <a:pathLst>
                <a:path h="351527" w="545806">
                  <a:moveTo>
                    <a:pt x="97131" y="0"/>
                  </a:moveTo>
                  <a:lnTo>
                    <a:pt x="448675" y="0"/>
                  </a:lnTo>
                  <a:cubicBezTo>
                    <a:pt x="502319" y="0"/>
                    <a:pt x="545806" y="43487"/>
                    <a:pt x="545806" y="97131"/>
                  </a:cubicBezTo>
                  <a:lnTo>
                    <a:pt x="545806" y="254397"/>
                  </a:lnTo>
                  <a:cubicBezTo>
                    <a:pt x="545806" y="308040"/>
                    <a:pt x="502319" y="351527"/>
                    <a:pt x="448675" y="351527"/>
                  </a:cubicBezTo>
                  <a:lnTo>
                    <a:pt x="97131" y="351527"/>
                  </a:lnTo>
                  <a:cubicBezTo>
                    <a:pt x="43487" y="351527"/>
                    <a:pt x="0" y="308040"/>
                    <a:pt x="0" y="254397"/>
                  </a:cubicBezTo>
                  <a:lnTo>
                    <a:pt x="0" y="97131"/>
                  </a:lnTo>
                  <a:cubicBezTo>
                    <a:pt x="0" y="43487"/>
                    <a:pt x="43487" y="0"/>
                    <a:pt x="971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5806" cy="389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765668" y="4404219"/>
            <a:ext cx="925428" cy="1023987"/>
          </a:xfrm>
          <a:custGeom>
            <a:avLst/>
            <a:gdLst/>
            <a:ahLst/>
            <a:cxnLst/>
            <a:rect r="r" b="b" t="t" l="l"/>
            <a:pathLst>
              <a:path h="1023987" w="925428">
                <a:moveTo>
                  <a:pt x="0" y="0"/>
                </a:moveTo>
                <a:lnTo>
                  <a:pt x="925428" y="0"/>
                </a:lnTo>
                <a:lnTo>
                  <a:pt x="925428" y="1023986"/>
                </a:lnTo>
                <a:lnTo>
                  <a:pt x="0" y="10239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6206" y="6205538"/>
            <a:ext cx="738391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5499" b="tru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TUJUAN PENELITIAN</a:t>
            </a:r>
          </a:p>
          <a:p>
            <a:pPr algn="l">
              <a:lnSpc>
                <a:spcPts val="5774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616206" y="7033949"/>
            <a:ext cx="7383916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Membangun sistem deteksi produk boikot berbasis IoT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Integrasi ES</a:t>
            </a: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P32-CAM dengan server lokal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Membuat database produk boikot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Menguji akurasi sistem dalam mendeteksi produk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43505" y="6858000"/>
            <a:ext cx="7383916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</a:t>
            </a: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and Development (R&amp;D)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Studi literatur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Perancangan sistem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Implementasi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Pengujian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72602" y="6078865"/>
            <a:ext cx="738391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METODE PENELITIAN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86274" y="1411549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2"/>
                </a:lnTo>
                <a:lnTo>
                  <a:pt x="0" y="812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2552" y="5799603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8" y="0"/>
                </a:lnTo>
                <a:lnTo>
                  <a:pt x="586148" y="586148"/>
                </a:lnTo>
                <a:lnTo>
                  <a:pt x="0" y="586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60084" y="2613002"/>
            <a:ext cx="738391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5499" b="tru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PERANCANGAN SISTEM</a:t>
            </a:r>
          </a:p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198678" y="3303565"/>
            <a:ext cx="11516087" cy="4473839"/>
            <a:chOff x="0" y="0"/>
            <a:chExt cx="3033043" cy="11782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33043" cy="1178295"/>
            </a:xfrm>
            <a:custGeom>
              <a:avLst/>
              <a:gdLst/>
              <a:ahLst/>
              <a:cxnLst/>
              <a:rect r="r" b="b" t="t" l="l"/>
              <a:pathLst>
                <a:path h="1178295" w="3033043">
                  <a:moveTo>
                    <a:pt x="17479" y="0"/>
                  </a:moveTo>
                  <a:lnTo>
                    <a:pt x="3015564" y="0"/>
                  </a:lnTo>
                  <a:cubicBezTo>
                    <a:pt x="3020200" y="0"/>
                    <a:pt x="3024646" y="1842"/>
                    <a:pt x="3027924" y="5119"/>
                  </a:cubicBezTo>
                  <a:cubicBezTo>
                    <a:pt x="3031202" y="8397"/>
                    <a:pt x="3033043" y="12843"/>
                    <a:pt x="3033043" y="17479"/>
                  </a:cubicBezTo>
                  <a:lnTo>
                    <a:pt x="3033043" y="1160816"/>
                  </a:lnTo>
                  <a:cubicBezTo>
                    <a:pt x="3033043" y="1165452"/>
                    <a:pt x="3031202" y="1169898"/>
                    <a:pt x="3027924" y="1173176"/>
                  </a:cubicBezTo>
                  <a:cubicBezTo>
                    <a:pt x="3024646" y="1176454"/>
                    <a:pt x="3020200" y="1178295"/>
                    <a:pt x="3015564" y="1178295"/>
                  </a:cubicBezTo>
                  <a:lnTo>
                    <a:pt x="17479" y="1178295"/>
                  </a:lnTo>
                  <a:cubicBezTo>
                    <a:pt x="12843" y="1178295"/>
                    <a:pt x="8397" y="1176454"/>
                    <a:pt x="5119" y="1173176"/>
                  </a:cubicBezTo>
                  <a:cubicBezTo>
                    <a:pt x="1842" y="1169898"/>
                    <a:pt x="0" y="1165452"/>
                    <a:pt x="0" y="1160816"/>
                  </a:cubicBezTo>
                  <a:lnTo>
                    <a:pt x="0" y="17479"/>
                  </a:lnTo>
                  <a:cubicBezTo>
                    <a:pt x="0" y="12843"/>
                    <a:pt x="1842" y="8397"/>
                    <a:pt x="5119" y="5119"/>
                  </a:cubicBezTo>
                  <a:cubicBezTo>
                    <a:pt x="8397" y="1842"/>
                    <a:pt x="12843" y="0"/>
                    <a:pt x="174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33043" cy="1216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322503" y="3351190"/>
            <a:ext cx="11198673" cy="4521464"/>
          </a:xfrm>
          <a:custGeom>
            <a:avLst/>
            <a:gdLst/>
            <a:ahLst/>
            <a:cxnLst/>
            <a:rect r="r" b="b" t="t" l="l"/>
            <a:pathLst>
              <a:path h="4521464" w="11198673">
                <a:moveTo>
                  <a:pt x="0" y="0"/>
                </a:moveTo>
                <a:lnTo>
                  <a:pt x="11198673" y="0"/>
                </a:lnTo>
                <a:lnTo>
                  <a:pt x="11198673" y="4521464"/>
                </a:lnTo>
                <a:lnTo>
                  <a:pt x="0" y="452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60084" y="8145069"/>
            <a:ext cx="1031834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ESP32-CAM ambil gambar → kirim ke server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Server proses dengan ZXing → cocokkan dengan database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Hasil dikirim balik → tampil di OLED &amp; LED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59545" y="7786929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 Arsitektur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86274" y="1411549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2"/>
                </a:lnTo>
                <a:lnTo>
                  <a:pt x="0" y="812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2552" y="5799603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8" y="0"/>
                </a:lnTo>
                <a:lnTo>
                  <a:pt x="586148" y="586148"/>
                </a:lnTo>
                <a:lnTo>
                  <a:pt x="0" y="586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27743" y="3676650"/>
            <a:ext cx="6789541" cy="3957710"/>
            <a:chOff x="0" y="0"/>
            <a:chExt cx="1788192" cy="1042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8192" cy="1042360"/>
            </a:xfrm>
            <a:custGeom>
              <a:avLst/>
              <a:gdLst/>
              <a:ahLst/>
              <a:cxnLst/>
              <a:rect r="r" b="b" t="t" l="l"/>
              <a:pathLst>
                <a:path h="1042360" w="1788192">
                  <a:moveTo>
                    <a:pt x="29647" y="0"/>
                  </a:moveTo>
                  <a:lnTo>
                    <a:pt x="1758545" y="0"/>
                  </a:lnTo>
                  <a:cubicBezTo>
                    <a:pt x="1766408" y="0"/>
                    <a:pt x="1773949" y="3124"/>
                    <a:pt x="1779509" y="8683"/>
                  </a:cubicBezTo>
                  <a:cubicBezTo>
                    <a:pt x="1785069" y="14243"/>
                    <a:pt x="1788192" y="21784"/>
                    <a:pt x="1788192" y="29647"/>
                  </a:cubicBezTo>
                  <a:lnTo>
                    <a:pt x="1788192" y="1012713"/>
                  </a:lnTo>
                  <a:cubicBezTo>
                    <a:pt x="1788192" y="1020576"/>
                    <a:pt x="1785069" y="1028117"/>
                    <a:pt x="1779509" y="1033676"/>
                  </a:cubicBezTo>
                  <a:cubicBezTo>
                    <a:pt x="1773949" y="1039236"/>
                    <a:pt x="1766408" y="1042360"/>
                    <a:pt x="1758545" y="1042360"/>
                  </a:cubicBezTo>
                  <a:lnTo>
                    <a:pt x="29647" y="1042360"/>
                  </a:lnTo>
                  <a:cubicBezTo>
                    <a:pt x="21784" y="1042360"/>
                    <a:pt x="14243" y="1039236"/>
                    <a:pt x="8683" y="1033676"/>
                  </a:cubicBezTo>
                  <a:cubicBezTo>
                    <a:pt x="3124" y="1028117"/>
                    <a:pt x="0" y="1020576"/>
                    <a:pt x="0" y="1012713"/>
                  </a:cubicBezTo>
                  <a:lnTo>
                    <a:pt x="0" y="29647"/>
                  </a:lnTo>
                  <a:cubicBezTo>
                    <a:pt x="0" y="21784"/>
                    <a:pt x="3124" y="14243"/>
                    <a:pt x="8683" y="8683"/>
                  </a:cubicBezTo>
                  <a:cubicBezTo>
                    <a:pt x="14243" y="3124"/>
                    <a:pt x="21784" y="0"/>
                    <a:pt x="296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88192" cy="1080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18626" y="4183002"/>
            <a:ext cx="6376288" cy="2818595"/>
          </a:xfrm>
          <a:custGeom>
            <a:avLst/>
            <a:gdLst/>
            <a:ahLst/>
            <a:cxnLst/>
            <a:rect r="r" b="b" t="t" l="l"/>
            <a:pathLst>
              <a:path h="2818595" w="6376288">
                <a:moveTo>
                  <a:pt x="0" y="0"/>
                </a:moveTo>
                <a:lnTo>
                  <a:pt x="6376288" y="0"/>
                </a:lnTo>
                <a:lnTo>
                  <a:pt x="6376288" y="2818595"/>
                </a:lnTo>
                <a:lnTo>
                  <a:pt x="0" y="28185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652962" y="3676650"/>
            <a:ext cx="6789541" cy="3957710"/>
            <a:chOff x="0" y="0"/>
            <a:chExt cx="1788192" cy="1042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88192" cy="1042360"/>
            </a:xfrm>
            <a:custGeom>
              <a:avLst/>
              <a:gdLst/>
              <a:ahLst/>
              <a:cxnLst/>
              <a:rect r="r" b="b" t="t" l="l"/>
              <a:pathLst>
                <a:path h="1042360" w="1788192">
                  <a:moveTo>
                    <a:pt x="29647" y="0"/>
                  </a:moveTo>
                  <a:lnTo>
                    <a:pt x="1758545" y="0"/>
                  </a:lnTo>
                  <a:cubicBezTo>
                    <a:pt x="1766408" y="0"/>
                    <a:pt x="1773949" y="3124"/>
                    <a:pt x="1779509" y="8683"/>
                  </a:cubicBezTo>
                  <a:cubicBezTo>
                    <a:pt x="1785069" y="14243"/>
                    <a:pt x="1788192" y="21784"/>
                    <a:pt x="1788192" y="29647"/>
                  </a:cubicBezTo>
                  <a:lnTo>
                    <a:pt x="1788192" y="1012713"/>
                  </a:lnTo>
                  <a:cubicBezTo>
                    <a:pt x="1788192" y="1020576"/>
                    <a:pt x="1785069" y="1028117"/>
                    <a:pt x="1779509" y="1033676"/>
                  </a:cubicBezTo>
                  <a:cubicBezTo>
                    <a:pt x="1773949" y="1039236"/>
                    <a:pt x="1766408" y="1042360"/>
                    <a:pt x="1758545" y="1042360"/>
                  </a:cubicBezTo>
                  <a:lnTo>
                    <a:pt x="29647" y="1042360"/>
                  </a:lnTo>
                  <a:cubicBezTo>
                    <a:pt x="21784" y="1042360"/>
                    <a:pt x="14243" y="1039236"/>
                    <a:pt x="8683" y="1033676"/>
                  </a:cubicBezTo>
                  <a:cubicBezTo>
                    <a:pt x="3124" y="1028117"/>
                    <a:pt x="0" y="1020576"/>
                    <a:pt x="0" y="1012713"/>
                  </a:cubicBezTo>
                  <a:lnTo>
                    <a:pt x="0" y="29647"/>
                  </a:lnTo>
                  <a:cubicBezTo>
                    <a:pt x="0" y="21784"/>
                    <a:pt x="3124" y="14243"/>
                    <a:pt x="8683" y="8683"/>
                  </a:cubicBezTo>
                  <a:cubicBezTo>
                    <a:pt x="14243" y="3124"/>
                    <a:pt x="21784" y="0"/>
                    <a:pt x="296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88192" cy="1080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562320" y="4212724"/>
            <a:ext cx="6880183" cy="2945158"/>
          </a:xfrm>
          <a:custGeom>
            <a:avLst/>
            <a:gdLst/>
            <a:ahLst/>
            <a:cxnLst/>
            <a:rect r="r" b="b" t="t" l="l"/>
            <a:pathLst>
              <a:path h="2945158" w="6880183">
                <a:moveTo>
                  <a:pt x="0" y="0"/>
                </a:moveTo>
                <a:lnTo>
                  <a:pt x="6880183" y="0"/>
                </a:lnTo>
                <a:lnTo>
                  <a:pt x="6880183" y="2945158"/>
                </a:lnTo>
                <a:lnTo>
                  <a:pt x="0" y="2945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858159" y="2657475"/>
            <a:ext cx="849238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DATA FLOW DIAGRAM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39974" y="7867723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 Konteks IOT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30876" y="7867723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 Konteks Web Server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86274" y="1411549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2"/>
                </a:lnTo>
                <a:lnTo>
                  <a:pt x="0" y="812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2552" y="5799603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8" y="0"/>
                </a:lnTo>
                <a:lnTo>
                  <a:pt x="586148" y="586148"/>
                </a:lnTo>
                <a:lnTo>
                  <a:pt x="0" y="586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06770" y="2441386"/>
            <a:ext cx="849238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PERANCANGAN BASIS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0957" y="4145827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tabel_produk</a:t>
            </a:r>
          </a:p>
        </p:txBody>
      </p:sp>
      <p:graphicFrame>
        <p:nvGraphicFramePr>
          <p:cNvPr name="Object 11" id="11"/>
          <p:cNvGraphicFramePr/>
          <p:nvPr/>
        </p:nvGraphicFramePr>
        <p:xfrm>
          <a:off x="4824276" y="4989742"/>
          <a:ext cx="3771900" cy="2095500"/>
        </p:xfrm>
        <a:graphic>
          <a:graphicData uri="http://schemas.openxmlformats.org/presentationml/2006/ole">
            <p:oleObj imgW="4521200" imgH="28448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86274" y="1411549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2"/>
                </a:lnTo>
                <a:lnTo>
                  <a:pt x="0" y="812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2552" y="5799603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8" y="0"/>
                </a:lnTo>
                <a:lnTo>
                  <a:pt x="586148" y="586148"/>
                </a:lnTo>
                <a:lnTo>
                  <a:pt x="0" y="586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134962" y="4343353"/>
            <a:ext cx="2723197" cy="2042398"/>
          </a:xfrm>
          <a:custGeom>
            <a:avLst/>
            <a:gdLst/>
            <a:ahLst/>
            <a:cxnLst/>
            <a:rect r="r" b="b" t="t" l="l"/>
            <a:pathLst>
              <a:path h="2042398" w="2723197">
                <a:moveTo>
                  <a:pt x="0" y="0"/>
                </a:moveTo>
                <a:lnTo>
                  <a:pt x="2723197" y="0"/>
                </a:lnTo>
                <a:lnTo>
                  <a:pt x="2723197" y="2042398"/>
                </a:lnTo>
                <a:lnTo>
                  <a:pt x="0" y="204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9144000" y="2769998"/>
            <a:ext cx="4767719" cy="6356958"/>
          </a:xfrm>
          <a:custGeom>
            <a:avLst/>
            <a:gdLst/>
            <a:ahLst/>
            <a:cxnLst/>
            <a:rect r="r" b="b" t="t" l="l"/>
            <a:pathLst>
              <a:path h="6356958" w="4767719">
                <a:moveTo>
                  <a:pt x="0" y="0"/>
                </a:moveTo>
                <a:lnTo>
                  <a:pt x="4767719" y="0"/>
                </a:lnTo>
                <a:lnTo>
                  <a:pt x="476771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06770" y="2441386"/>
            <a:ext cx="849238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PERANCANGAN ANTARMUKA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33538" y="6842951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Antarmuka pengguna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2962" y="8653975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Antarmuka Mikrokontroller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86274" y="1411549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2"/>
                </a:lnTo>
                <a:lnTo>
                  <a:pt x="0" y="812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2552" y="5799603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8" y="0"/>
                </a:lnTo>
                <a:lnTo>
                  <a:pt x="586148" y="586148"/>
                </a:lnTo>
                <a:lnTo>
                  <a:pt x="0" y="586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60578" y="2716152"/>
            <a:ext cx="8492383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5499" b="tru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IMPLEMENTASI PERANGKAT KERAS</a:t>
            </a:r>
          </a:p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927743" y="3676650"/>
            <a:ext cx="5643321" cy="3957710"/>
            <a:chOff x="0" y="0"/>
            <a:chExt cx="1486307" cy="1042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6307" cy="1042360"/>
            </a:xfrm>
            <a:custGeom>
              <a:avLst/>
              <a:gdLst/>
              <a:ahLst/>
              <a:cxnLst/>
              <a:rect r="r" b="b" t="t" l="l"/>
              <a:pathLst>
                <a:path h="1042360" w="1486307">
                  <a:moveTo>
                    <a:pt x="35669" y="0"/>
                  </a:moveTo>
                  <a:lnTo>
                    <a:pt x="1450638" y="0"/>
                  </a:lnTo>
                  <a:cubicBezTo>
                    <a:pt x="1460098" y="0"/>
                    <a:pt x="1469170" y="3758"/>
                    <a:pt x="1475860" y="10447"/>
                  </a:cubicBezTo>
                  <a:cubicBezTo>
                    <a:pt x="1482549" y="17136"/>
                    <a:pt x="1486307" y="26209"/>
                    <a:pt x="1486307" y="35669"/>
                  </a:cubicBezTo>
                  <a:lnTo>
                    <a:pt x="1486307" y="1006691"/>
                  </a:lnTo>
                  <a:cubicBezTo>
                    <a:pt x="1486307" y="1016151"/>
                    <a:pt x="1482549" y="1025224"/>
                    <a:pt x="1475860" y="1031913"/>
                  </a:cubicBezTo>
                  <a:cubicBezTo>
                    <a:pt x="1469170" y="1038602"/>
                    <a:pt x="1460098" y="1042360"/>
                    <a:pt x="1450638" y="1042360"/>
                  </a:cubicBezTo>
                  <a:lnTo>
                    <a:pt x="35669" y="1042360"/>
                  </a:lnTo>
                  <a:cubicBezTo>
                    <a:pt x="26209" y="1042360"/>
                    <a:pt x="17136" y="1038602"/>
                    <a:pt x="10447" y="1031913"/>
                  </a:cubicBezTo>
                  <a:cubicBezTo>
                    <a:pt x="3758" y="1025224"/>
                    <a:pt x="0" y="1016151"/>
                    <a:pt x="0" y="1006691"/>
                  </a:cubicBezTo>
                  <a:lnTo>
                    <a:pt x="0" y="35669"/>
                  </a:lnTo>
                  <a:cubicBezTo>
                    <a:pt x="0" y="26209"/>
                    <a:pt x="3758" y="17136"/>
                    <a:pt x="10447" y="10447"/>
                  </a:cubicBezTo>
                  <a:cubicBezTo>
                    <a:pt x="17136" y="3758"/>
                    <a:pt x="26209" y="0"/>
                    <a:pt x="356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86307" cy="1080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196589" y="3910095"/>
            <a:ext cx="5105629" cy="3545195"/>
          </a:xfrm>
          <a:custGeom>
            <a:avLst/>
            <a:gdLst/>
            <a:ahLst/>
            <a:cxnLst/>
            <a:rect r="r" b="b" t="t" l="l"/>
            <a:pathLst>
              <a:path h="3545195" w="5105629">
                <a:moveTo>
                  <a:pt x="0" y="0"/>
                </a:moveTo>
                <a:lnTo>
                  <a:pt x="5105628" y="0"/>
                </a:lnTo>
                <a:lnTo>
                  <a:pt x="5105628" y="3545195"/>
                </a:lnTo>
                <a:lnTo>
                  <a:pt x="0" y="35451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92710" y="3784485"/>
            <a:ext cx="5565608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Komponen: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ESP32-CAM, OLED 0.96, LED merah &amp; hijau, </a:t>
            </a: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Push</a:t>
            </a: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button, Resistor, Breadboard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9974" y="7867723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Skematik rangkaian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99146" y="6167510"/>
            <a:ext cx="8492383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5499" b="tru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IMPLEMENTASI PERANGKAT LUNAK</a:t>
            </a:r>
          </a:p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299146" y="6819973"/>
            <a:ext cx="7276117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Arduino IDE untuk pemrograman ESP32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XAMPP (Apache, MySQL, </a:t>
            </a: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PHP)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Pustaka:</a:t>
            </a: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ZXing untuk decode barcode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MySQL menyimpan data produk boikot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5351" y="1898332"/>
            <a:ext cx="889011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TABEL RENCANA PENGUJIAN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876374" y="999734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3"/>
                </a:lnTo>
                <a:lnTo>
                  <a:pt x="0" y="812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27989" y="4387310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7" y="0"/>
                </a:lnTo>
                <a:lnTo>
                  <a:pt x="586147" y="586147"/>
                </a:lnTo>
                <a:lnTo>
                  <a:pt x="0" y="58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09645" y="2630574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Tabel Uji Fungsional Sistem</a:t>
            </a:r>
          </a:p>
        </p:txBody>
      </p:sp>
      <p:graphicFrame>
        <p:nvGraphicFramePr>
          <p:cNvPr name="Object 11" id="11"/>
          <p:cNvGraphicFramePr/>
          <p:nvPr/>
        </p:nvGraphicFramePr>
        <p:xfrm>
          <a:off x="2609495" y="2668674"/>
          <a:ext cx="3771900" cy="8801100"/>
        </p:xfrm>
        <a:graphic>
          <a:graphicData uri="http://schemas.openxmlformats.org/presentationml/2006/ole">
            <p:oleObj imgW="5524500" imgH="105537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07291" y="1898332"/>
            <a:ext cx="954018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HASIL PENGUJIAN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027989" y="4387310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7" y="0"/>
                </a:lnTo>
                <a:lnTo>
                  <a:pt x="586147" y="586147"/>
                </a:lnTo>
                <a:lnTo>
                  <a:pt x="0" y="58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2533277" y="2607269"/>
          <a:ext cx="5029200" cy="4191000"/>
        </p:xfrm>
        <a:graphic>
          <a:graphicData uri="http://schemas.openxmlformats.org/presentationml/2006/ole">
            <p:oleObj imgW="6032500" imgH="51943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21549" y="1898332"/>
            <a:ext cx="738391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H</a:t>
            </a:r>
            <a:r>
              <a:rPr lang="en-US" b="true" sz="5499" strike="noStrike" u="non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ASIL PENGUJIAN</a:t>
            </a:r>
          </a:p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876374" y="999734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3"/>
                </a:lnTo>
                <a:lnTo>
                  <a:pt x="0" y="812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27989" y="4387310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7" y="0"/>
                </a:lnTo>
                <a:lnTo>
                  <a:pt x="586147" y="586147"/>
                </a:lnTo>
                <a:lnTo>
                  <a:pt x="0" y="58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2323541" y="2588894"/>
          <a:ext cx="5029200" cy="4191000"/>
        </p:xfrm>
        <a:graphic>
          <a:graphicData uri="http://schemas.openxmlformats.org/presentationml/2006/ole">
            <p:oleObj imgW="6032500" imgH="51943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21549" y="1898332"/>
            <a:ext cx="738391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H</a:t>
            </a:r>
            <a:r>
              <a:rPr lang="en-US" b="true" sz="5499" strike="noStrike" u="non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ASIL PENGUJIAN</a:t>
            </a:r>
          </a:p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876374" y="999734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3"/>
                </a:lnTo>
                <a:lnTo>
                  <a:pt x="0" y="812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27989" y="4387310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7" y="0"/>
                </a:lnTo>
                <a:lnTo>
                  <a:pt x="586147" y="586147"/>
                </a:lnTo>
                <a:lnTo>
                  <a:pt x="0" y="58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2227401" y="2553550"/>
          <a:ext cx="5029200" cy="4191000"/>
        </p:xfrm>
        <a:graphic>
          <a:graphicData uri="http://schemas.openxmlformats.org/presentationml/2006/ole">
            <p:oleObj imgW="6032500" imgH="51943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74063" y="1611886"/>
            <a:ext cx="738391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H</a:t>
            </a:r>
            <a:r>
              <a:rPr lang="en-US" b="true" sz="5499" strike="noStrike" u="non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ASIL PENGUJIAN</a:t>
            </a:r>
          </a:p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027989" y="4387310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7" y="0"/>
                </a:lnTo>
                <a:lnTo>
                  <a:pt x="586147" y="586147"/>
                </a:lnTo>
                <a:lnTo>
                  <a:pt x="0" y="58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1946306" y="2231500"/>
          <a:ext cx="5029200" cy="4191000"/>
        </p:xfrm>
        <a:graphic>
          <a:graphicData uri="http://schemas.openxmlformats.org/presentationml/2006/ole">
            <p:oleObj imgW="6032500" imgH="51943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27989" y="4387310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7" y="0"/>
                </a:lnTo>
                <a:lnTo>
                  <a:pt x="586147" y="586147"/>
                </a:lnTo>
                <a:lnTo>
                  <a:pt x="0" y="58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7503" y="3229019"/>
            <a:ext cx="7148051" cy="5361038"/>
          </a:xfrm>
          <a:custGeom>
            <a:avLst/>
            <a:gdLst/>
            <a:ahLst/>
            <a:cxnLst/>
            <a:rect r="r" b="b" t="t" l="l"/>
            <a:pathLst>
              <a:path h="5361038" w="7148051">
                <a:moveTo>
                  <a:pt x="0" y="0"/>
                </a:moveTo>
                <a:lnTo>
                  <a:pt x="7148051" y="0"/>
                </a:lnTo>
                <a:lnTo>
                  <a:pt x="7148051" y="5361038"/>
                </a:lnTo>
                <a:lnTo>
                  <a:pt x="0" y="5361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64072" y="3229019"/>
            <a:ext cx="7141668" cy="5361038"/>
          </a:xfrm>
          <a:custGeom>
            <a:avLst/>
            <a:gdLst/>
            <a:ahLst/>
            <a:cxnLst/>
            <a:rect r="r" b="b" t="t" l="l"/>
            <a:pathLst>
              <a:path h="5361038" w="7141668">
                <a:moveTo>
                  <a:pt x="0" y="0"/>
                </a:moveTo>
                <a:lnTo>
                  <a:pt x="7141669" y="0"/>
                </a:lnTo>
                <a:lnTo>
                  <a:pt x="7141669" y="5361038"/>
                </a:lnTo>
                <a:lnTo>
                  <a:pt x="0" y="53610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52042" y="2157182"/>
            <a:ext cx="738391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TAMPILAN H</a:t>
            </a:r>
            <a:r>
              <a:rPr lang="en-US" b="true" sz="5499" strike="noStrike" u="non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ASIL PENGUJIAN</a:t>
            </a:r>
          </a:p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5114" y="8761507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Hasil Pengujian barcode produk boikot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64072" y="8761507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Hasil Pengujian barcode produk non-boikot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27989" y="4387310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7" y="0"/>
                </a:lnTo>
                <a:lnTo>
                  <a:pt x="586147" y="586147"/>
                </a:lnTo>
                <a:lnTo>
                  <a:pt x="0" y="58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52042" y="2157182"/>
            <a:ext cx="738391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TAMPILAN H</a:t>
            </a:r>
            <a:r>
              <a:rPr lang="en-US" b="true" sz="5499" strike="noStrike" u="none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ASIL PENGUJIAN</a:t>
            </a:r>
          </a:p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959102" y="3265380"/>
            <a:ext cx="4369796" cy="5324677"/>
          </a:xfrm>
          <a:custGeom>
            <a:avLst/>
            <a:gdLst/>
            <a:ahLst/>
            <a:cxnLst/>
            <a:rect r="r" b="b" t="t" l="l"/>
            <a:pathLst>
              <a:path h="5324677" w="4369796">
                <a:moveTo>
                  <a:pt x="0" y="0"/>
                </a:moveTo>
                <a:lnTo>
                  <a:pt x="4369796" y="0"/>
                </a:lnTo>
                <a:lnTo>
                  <a:pt x="4369796" y="5324677"/>
                </a:lnTo>
                <a:lnTo>
                  <a:pt x="0" y="53246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70403" y="8833045"/>
            <a:ext cx="103183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Gambar yang tersimpan di server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64554" y="2335815"/>
            <a:ext cx="738391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74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KESIMPULAN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027989" y="4387310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7" y="0"/>
                </a:lnTo>
                <a:lnTo>
                  <a:pt x="586147" y="586147"/>
                </a:lnTo>
                <a:lnTo>
                  <a:pt x="0" y="58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66667" y="4045921"/>
            <a:ext cx="13154665" cy="319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  <a:spcBef>
                <a:spcPct val="0"/>
              </a:spcBef>
            </a:pPr>
            <a:r>
              <a:rPr lang="en-US" b="true" sz="3021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SISTEM BERHASIL DIBANGUN DAN DIUJI. SISTEM DETEKSI PRODUK BOIKOT BERBASIS ESP32-CAM BERHASIL DIRANCANG DAN DIIMPLEMENTASIKAN. SISTEM DAPAT MEMBACA BARCODE EAN-13, MENAMPILKAN HASIL DI OLED, DAN MEMBERI NOTIFIKASI VIA LED. KENDALA: PEMINDAIAN KURANG OPTIMAL DALAM CAHAYA REDUP.</a:t>
            </a:r>
          </a:p>
          <a:p>
            <a:pPr algn="ctr">
              <a:lnSpc>
                <a:spcPts val="3172"/>
              </a:lnSpc>
              <a:spcBef>
                <a:spcPct val="0"/>
              </a:spcBef>
            </a:pPr>
          </a:p>
          <a:p>
            <a:pPr algn="ctr">
              <a:lnSpc>
                <a:spcPts val="3172"/>
              </a:lnSpc>
              <a:spcBef>
                <a:spcPct val="0"/>
              </a:spcBef>
            </a:pPr>
            <a:r>
              <a:rPr lang="en-US" b="true" sz="3021">
                <a:solidFill>
                  <a:srgbClr val="FFFFFF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INTEGRASI DATABASE BERJALAN DENGAN BAIK, ESP32-CAM TERHUBUNG KE SERVER LOKAL VIA WIFI. DATA BARCODE DAPAT DICOCOKKAN DENGAN DATABASE MYSQL SECARA REAL-TIME. HASIL DETEKSI DIKIRIM BALIK DAN DITAMPILKAN KE PENGGUNA.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51A43">
                <a:alpha val="100000"/>
              </a:srgbClr>
            </a:gs>
            <a:gs pos="100000">
              <a:srgbClr val="181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27989" y="4387310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7" y="0"/>
                </a:lnTo>
                <a:lnTo>
                  <a:pt x="586147" y="586147"/>
                </a:lnTo>
                <a:lnTo>
                  <a:pt x="0" y="58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4409"/>
            <a:ext cx="917606" cy="9176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96589" y="1217551"/>
            <a:ext cx="366157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true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UNIVERSITAS MUHAMMADIYAH CIREBON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60578" y="1138509"/>
            <a:ext cx="664536" cy="674097"/>
          </a:xfrm>
          <a:custGeom>
            <a:avLst/>
            <a:gdLst/>
            <a:ahLst/>
            <a:cxnLst/>
            <a:rect r="r" b="b" t="t" l="l"/>
            <a:pathLst>
              <a:path h="674097" w="664536">
                <a:moveTo>
                  <a:pt x="0" y="0"/>
                </a:moveTo>
                <a:lnTo>
                  <a:pt x="664536" y="0"/>
                </a:lnTo>
                <a:lnTo>
                  <a:pt x="664536" y="674098"/>
                </a:lnTo>
                <a:lnTo>
                  <a:pt x="0" y="674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46755" y="3682073"/>
            <a:ext cx="14731938" cy="324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71"/>
              </a:lnSpc>
            </a:pPr>
            <a:r>
              <a:rPr lang="en-US" b="true" sz="12856">
                <a:solidFill>
                  <a:srgbClr val="FFFFFF"/>
                </a:solidFill>
                <a:latin typeface="Teko Bold"/>
                <a:ea typeface="Teko Bold"/>
                <a:cs typeface="Teko Bold"/>
                <a:sym typeface="Teko Bold"/>
              </a:rPr>
              <a:t>TERIMA KASIH ATAS PERHATIANNYA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10525" y="7231978"/>
            <a:ext cx="3086100" cy="775859"/>
            <a:chOff x="0" y="0"/>
            <a:chExt cx="812800" cy="2043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204342"/>
            </a:xfrm>
            <a:custGeom>
              <a:avLst/>
              <a:gdLst/>
              <a:ahLst/>
              <a:cxnLst/>
              <a:rect r="r" b="b" t="t" l="l"/>
              <a:pathLst>
                <a:path h="204342" w="812800">
                  <a:moveTo>
                    <a:pt x="102171" y="0"/>
                  </a:moveTo>
                  <a:lnTo>
                    <a:pt x="710629" y="0"/>
                  </a:lnTo>
                  <a:cubicBezTo>
                    <a:pt x="767057" y="0"/>
                    <a:pt x="812800" y="45743"/>
                    <a:pt x="812800" y="102171"/>
                  </a:cubicBezTo>
                  <a:lnTo>
                    <a:pt x="812800" y="102171"/>
                  </a:lnTo>
                  <a:cubicBezTo>
                    <a:pt x="812800" y="129268"/>
                    <a:pt x="802036" y="155256"/>
                    <a:pt x="782875" y="174416"/>
                  </a:cubicBezTo>
                  <a:cubicBezTo>
                    <a:pt x="763714" y="193577"/>
                    <a:pt x="737727" y="204342"/>
                    <a:pt x="710629" y="204342"/>
                  </a:cubicBezTo>
                  <a:lnTo>
                    <a:pt x="102171" y="204342"/>
                  </a:lnTo>
                  <a:cubicBezTo>
                    <a:pt x="45743" y="204342"/>
                    <a:pt x="0" y="158598"/>
                    <a:pt x="0" y="102171"/>
                  </a:cubicBezTo>
                  <a:lnTo>
                    <a:pt x="0" y="102171"/>
                  </a:lnTo>
                  <a:cubicBezTo>
                    <a:pt x="0" y="45743"/>
                    <a:pt x="45743" y="0"/>
                    <a:pt x="1021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242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738789" y="7396418"/>
            <a:ext cx="3029574" cy="49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7"/>
              </a:lnSpc>
            </a:pPr>
            <a:r>
              <a:rPr lang="en-US" sz="3196" b="true">
                <a:solidFill>
                  <a:srgbClr val="511A40"/>
                </a:solidFill>
                <a:latin typeface="Teko Semi-Bold"/>
                <a:ea typeface="Teko Semi-Bold"/>
                <a:cs typeface="Teko Semi-Bold"/>
                <a:sym typeface="Teko Semi-Bold"/>
              </a:rPr>
              <a:t>Sampai Jumpa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378693" y="2773465"/>
            <a:ext cx="586148" cy="586148"/>
          </a:xfrm>
          <a:custGeom>
            <a:avLst/>
            <a:gdLst/>
            <a:ahLst/>
            <a:cxnLst/>
            <a:rect r="r" b="b" t="t" l="l"/>
            <a:pathLst>
              <a:path h="586148" w="586148">
                <a:moveTo>
                  <a:pt x="0" y="0"/>
                </a:moveTo>
                <a:lnTo>
                  <a:pt x="586148" y="0"/>
                </a:lnTo>
                <a:lnTo>
                  <a:pt x="586148" y="586148"/>
                </a:lnTo>
                <a:lnTo>
                  <a:pt x="0" y="586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644974" y="7386252"/>
            <a:ext cx="467310" cy="467310"/>
          </a:xfrm>
          <a:custGeom>
            <a:avLst/>
            <a:gdLst/>
            <a:ahLst/>
            <a:cxnLst/>
            <a:rect r="r" b="b" t="t" l="l"/>
            <a:pathLst>
              <a:path h="467310" w="467310">
                <a:moveTo>
                  <a:pt x="0" y="0"/>
                </a:moveTo>
                <a:lnTo>
                  <a:pt x="467310" y="0"/>
                </a:lnTo>
                <a:lnTo>
                  <a:pt x="467310" y="467311"/>
                </a:lnTo>
                <a:lnTo>
                  <a:pt x="0" y="467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71667" y="6450510"/>
            <a:ext cx="812872" cy="812872"/>
          </a:xfrm>
          <a:custGeom>
            <a:avLst/>
            <a:gdLst/>
            <a:ahLst/>
            <a:cxnLst/>
            <a:rect r="r" b="b" t="t" l="l"/>
            <a:pathLst>
              <a:path h="812872" w="812872">
                <a:moveTo>
                  <a:pt x="0" y="0"/>
                </a:moveTo>
                <a:lnTo>
                  <a:pt x="812872" y="0"/>
                </a:lnTo>
                <a:lnTo>
                  <a:pt x="812872" y="812872"/>
                </a:lnTo>
                <a:lnTo>
                  <a:pt x="0" y="812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DAGxAA14nnc</dc:identifier>
  <dcterms:modified xsi:type="dcterms:W3CDTF">2011-08-01T06:04:30Z</dcterms:modified>
  <cp:revision>1</cp:revision>
  <dc:title>UNIVERSITAS MUHAMMADIYAH CIREBON</dc:title>
</cp:coreProperties>
</file>